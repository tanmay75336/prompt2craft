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300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0" y="76200"/>
            <a:ext cx="12192000" cy="304800"/>
          </a:xfrm>
          <a:prstGeom prst="rect">
            <a:avLst/>
          </a:prstGeom>
          <a:solidFill>
            <a:srgbClr val="FFF9F4"/>
          </a:solidFill>
          <a:ln>
            <a:noFill/>
          </a:ln>
        </p:spPr>
      </p:sp>
      <p:sp>
        <p:nvSpPr>
          <p:cNvPr name="AutoShape 4" id="4"/>
          <p:cNvSpPr/>
          <p:nvPr/>
        </p:nvSpPr>
        <p:spPr>
          <a:xfrm>
            <a:off x="508000" y="508000"/>
            <a:ext cx="11176000" cy="584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6197600" y="812800"/>
            <a:ext cx="4876800" cy="5232400"/>
          </a:xfrm>
          <a:prstGeom prst="roundRect">
            <a:avLst/>
          </a:prstGeom>
          <a:solidFill>
            <a:srgbClr val="FFFAF6"/>
          </a:solidFill>
          <a:ln w="12700">
            <a:solidFill>
              <a:srgbClr val="FFE3D2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6680200" y="3124200"/>
            <a:ext cx="3911600" cy="6096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lnSpc>
                <a:spcPct val="108000"/>
              </a:lnSpc>
              <a:spcAft>
                <a:spcPct val="0"/>
              </a:spcAft>
            </a:pPr>
            <a:r>
              <a:rPr lang="en-US" sz="1400" b="true">
                <a:solidFill>
                  <a:srgbClr val="64748B"/>
                </a:solidFill>
                <a:latin typeface="Aptos"/>
              </a:rPr>
              <a:t>Indian Premier League logo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914400" y="914400"/>
            <a:ext cx="2413000" cy="228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100" b="true">
                <a:solidFill>
                  <a:srgbClr val="FF7300"/>
                </a:solidFill>
                <a:latin typeface="Aptos"/>
              </a:rPr>
              <a:t>Prompt2Craft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914400" y="1600200"/>
            <a:ext cx="4521200" cy="2184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3200" b="true">
                <a:solidFill>
                  <a:srgbClr val="1A202C"/>
                </a:solidFill>
                <a:latin typeface="Aptos Display"/>
              </a:rPr>
              <a:t>Indian Premier League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914400" y="3733800"/>
            <a:ext cx="4368800" cy="1117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600" b="false">
                <a:solidFill>
                  <a:srgbClr val="64748B"/>
                </a:solidFill>
                <a:latin typeface="Aptos"/>
              </a:rPr>
              <a:t>The Premier T20 Cricket League in India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14400" y="5130800"/>
            <a:ext cx="2336800" cy="533400"/>
          </a:xfrm>
          <a:prstGeom prst="roundRect">
            <a:avLst/>
          </a:prstGeom>
          <a:solidFill>
            <a:srgbClr val="FFF3EB"/>
          </a:solidFill>
          <a:ln w="12700">
            <a:solidFill>
              <a:srgbClr val="FFE1CE"/>
            </a:solidFill>
          </a:ln>
        </p:spPr>
      </p:sp>
      <p:sp>
        <p:nvSpPr>
          <p:cNvPr name="TextBox 11" id="11"/>
          <p:cNvSpPr txBox="true"/>
          <p:nvPr/>
        </p:nvSpPr>
        <p:spPr>
          <a:xfrm>
            <a:off x="1117600" y="5283200"/>
            <a:ext cx="1930400" cy="228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100" b="true">
                <a:solidFill>
                  <a:srgbClr val="C2410C"/>
                </a:solidFill>
                <a:latin typeface="Aptos"/>
              </a:rPr>
              <a:t>Minimal. Clean. Editorial.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14400" y="4572000"/>
            <a:ext cx="15748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8DA"/>
            </a:solidFill>
          </a:ln>
        </p:spPr>
      </p:sp>
      <p:sp>
        <p:nvSpPr>
          <p:cNvPr name="TextBox 13" id="13"/>
          <p:cNvSpPr txBox="true"/>
          <p:nvPr/>
        </p:nvSpPr>
        <p:spPr>
          <a:xfrm>
            <a:off x="1092200" y="4686300"/>
            <a:ext cx="1219200" cy="1524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C2410C"/>
                </a:solidFill>
                <a:latin typeface="Aptos"/>
              </a:rPr>
              <a:t>8 slides</a:t>
            </a:r>
          </a:p>
        </p:txBody>
      </p:sp>
      <p:sp>
        <p:nvSpPr>
          <p:cNvPr name="AutoShape 14" id="14"/>
          <p:cNvSpPr/>
          <p:nvPr/>
        </p:nvSpPr>
        <p:spPr>
          <a:xfrm>
            <a:off x="2590800" y="4572000"/>
            <a:ext cx="19812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8DA"/>
            </a:solidFill>
          </a:ln>
        </p:spPr>
      </p:sp>
      <p:sp>
        <p:nvSpPr>
          <p:cNvPr name="TextBox 15" id="15"/>
          <p:cNvSpPr txBox="true"/>
          <p:nvPr/>
        </p:nvSpPr>
        <p:spPr>
          <a:xfrm>
            <a:off x="2768600" y="4686300"/>
            <a:ext cx="1625600" cy="1524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C2410C"/>
                </a:solidFill>
                <a:latin typeface="Aptos"/>
              </a:rPr>
              <a:t>Theory-first narrative</a:t>
            </a:r>
          </a:p>
        </p:txBody>
      </p:sp>
      <p:sp>
        <p:nvSpPr>
          <p:cNvPr name="AutoShape 16" id="16"/>
          <p:cNvSpPr/>
          <p:nvPr/>
        </p:nvSpPr>
        <p:spPr>
          <a:xfrm>
            <a:off x="4673600" y="4572000"/>
            <a:ext cx="14732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8DA"/>
            </a:solidFill>
          </a:ln>
        </p:spPr>
      </p:sp>
      <p:sp>
        <p:nvSpPr>
          <p:cNvPr name="TextBox 17" id="17"/>
          <p:cNvSpPr txBox="true"/>
          <p:nvPr/>
        </p:nvSpPr>
        <p:spPr>
          <a:xfrm>
            <a:off x="4851400" y="4686300"/>
            <a:ext cx="1117600" cy="1524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C2410C"/>
                </a:solidFill>
                <a:latin typeface="Aptos"/>
              </a:rPr>
              <a:t>Max 3 photos</a:t>
            </a:r>
          </a:p>
        </p:txBody>
      </p:sp>
      <p:sp>
        <p:nvSpPr>
          <p:cNvPr name="AutoShape 18" id="18"/>
          <p:cNvSpPr/>
          <p:nvPr/>
        </p:nvSpPr>
        <p:spPr>
          <a:xfrm>
            <a:off x="9144000" y="5359400"/>
            <a:ext cx="14732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8DA"/>
            </a:solidFill>
          </a:ln>
        </p:spPr>
      </p:sp>
      <p:sp>
        <p:nvSpPr>
          <p:cNvPr name="TextBox 19" id="19"/>
          <p:cNvSpPr txBox="true"/>
          <p:nvPr/>
        </p:nvSpPr>
        <p:spPr>
          <a:xfrm>
            <a:off x="9321800" y="5461000"/>
            <a:ext cx="1117600" cy="1524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lnSpc>
                <a:spcPct val="108000"/>
              </a:lnSpc>
              <a:spcAft>
                <a:spcPct val="0"/>
              </a:spcAft>
            </a:pPr>
            <a:r>
              <a:rPr lang="en-US" sz="950" b="true">
                <a:solidFill>
                  <a:srgbClr val="C2410C"/>
                </a:solidFill>
                <a:latin typeface="Aptos"/>
              </a:rPr>
              <a:t>Hero Visual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300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0" y="76200"/>
            <a:ext cx="12192000" cy="304800"/>
          </a:xfrm>
          <a:prstGeom prst="rect">
            <a:avLst/>
          </a:prstGeom>
          <a:solidFill>
            <a:srgbClr val="FFF9F4"/>
          </a:solidFill>
          <a:ln>
            <a:noFill/>
          </a:ln>
        </p:spPr>
      </p:sp>
      <p:sp>
        <p:nvSpPr>
          <p:cNvPr name="TextBox 4" id="4"/>
          <p:cNvSpPr txBox="true"/>
          <p:nvPr/>
        </p:nvSpPr>
        <p:spPr>
          <a:xfrm>
            <a:off x="711200" y="533400"/>
            <a:ext cx="1524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Content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11200" y="762000"/>
            <a:ext cx="9652000" cy="533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700" b="true">
                <a:solidFill>
                  <a:srgbClr val="1A202C"/>
                </a:solidFill>
                <a:latin typeface="Aptos Display"/>
              </a:rPr>
              <a:t>History of IPL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11200" y="1346200"/>
            <a:ext cx="9906000" cy="228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From its inception to the present day</a:t>
            </a:r>
          </a:p>
        </p:txBody>
      </p:sp>
      <p:sp>
        <p:nvSpPr>
          <p:cNvPr name="AutoShape 7" id="7"/>
          <p:cNvSpPr/>
          <p:nvPr/>
        </p:nvSpPr>
        <p:spPr>
          <a:xfrm>
            <a:off x="711200" y="1854200"/>
            <a:ext cx="5308600" cy="401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TextBox 8" id="8"/>
          <p:cNvSpPr txBox="true"/>
          <p:nvPr/>
        </p:nvSpPr>
        <p:spPr>
          <a:xfrm>
            <a:off x="1066800" y="2159000"/>
            <a:ext cx="1778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Core theory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1066800" y="2463800"/>
            <a:ext cx="4597400" cy="1092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700" b="true">
                <a:solidFill>
                  <a:srgbClr val="1A202C"/>
                </a:solidFill>
                <a:latin typeface="Aptos Display"/>
              </a:rPr>
              <a:t>The IPL was founded by the Board of Control for Cricket in India (BCCI) in 2008.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1066800" y="3759200"/>
            <a:ext cx="4470400" cy="1600200"/>
          </a:xfrm>
          <a:prstGeom prst="rect">
            <a:avLst/>
          </a:prstGeom>
        </p:spPr>
        <p:txBody>
          <a:bodyPr anchor="t" rtlCol="false"/>
          <a:lstStyle/>
          <a:p>
            <a:pPr algn="l" marL="279400">
              <a:lnSpc>
                <a:spcPct val="108000"/>
              </a:lnSpc>
              <a:spcAft>
                <a:spcPct val="12000"/>
              </a:spcAft>
              <a:buFont typeface="Arial"/>
              <a:buChar char="•"/>
            </a:pPr>
            <a:r>
              <a:rPr lang="en-US" sz="1400" b="false">
                <a:solidFill>
                  <a:srgbClr val="1A202C"/>
                </a:solidFill>
                <a:latin typeface="Aptos"/>
              </a:rPr>
              <a:t>The first season of the IPL was held in 2008 and was won by the Rajasthan Royals.</a:t>
            </a:r>
          </a:p>
          <a:p>
            <a:pPr algn="l" marL="279400">
              <a:lnSpc>
                <a:spcPct val="108000"/>
              </a:lnSpc>
              <a:spcAft>
                <a:spcPct val="12000"/>
              </a:spcAft>
              <a:buFont typeface="Arial"/>
              <a:buChar char="•"/>
            </a:pPr>
            <a:r>
              <a:rPr lang="en-US" sz="1400" b="false">
                <a:solidFill>
                  <a:srgbClr val="1A202C"/>
                </a:solidFill>
                <a:latin typeface="Aptos"/>
              </a:rPr>
              <a:t>The league has since grown in popularity and has become one of the most watched and followed sports leagues in the world.</a:t>
            </a:r>
          </a:p>
          <a:p>
            <a:pPr algn="l" marL="279400">
              <a:lnSpc>
                <a:spcPct val="108000"/>
              </a:lnSpc>
              <a:spcAft>
                <a:spcPct val="12000"/>
              </a:spcAft>
              <a:buFont typeface="Arial"/>
              <a:buChar char="•"/>
            </a:pPr>
            <a:r>
              <a:rPr lang="en-US" sz="1400" b="false">
                <a:solidFill>
                  <a:srgbClr val="1A202C"/>
                </a:solidFill>
                <a:latin typeface="Aptos"/>
              </a:rPr>
              <a:t>The IPL has also become a platform for young and talented cricketers to showcase their skills and get noticed by international selectors.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273800" y="1854200"/>
            <a:ext cx="5207000" cy="1879600"/>
          </a:xfrm>
          <a:prstGeom prst="roundRect">
            <a:avLst/>
          </a:prstGeom>
          <a:solidFill>
            <a:srgbClr val="FFF3EB"/>
          </a:solidFill>
          <a:ln w="12700">
            <a:solidFill>
              <a:srgbClr val="FFE3D2"/>
            </a:solidFill>
          </a:ln>
        </p:spPr>
      </p:sp>
      <p:sp>
        <p:nvSpPr>
          <p:cNvPr name="TextBox 12" id="12"/>
          <p:cNvSpPr txBox="true"/>
          <p:nvPr/>
        </p:nvSpPr>
        <p:spPr>
          <a:xfrm>
            <a:off x="6629400" y="2159000"/>
            <a:ext cx="2032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How to think about it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6629400" y="2514600"/>
            <a:ext cx="4191000" cy="863600"/>
          </a:xfrm>
          <a:prstGeom prst="rect">
            <a:avLst/>
          </a:prstGeom>
        </p:spPr>
        <p:txBody>
          <a:bodyPr anchor="t" rtlCol="false"/>
          <a:lstStyle/>
          <a:p>
            <a:pPr algn="l" marL="279400">
              <a:lnSpc>
                <a:spcPct val="108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1350" b="false">
                <a:solidFill>
                  <a:srgbClr val="1A202C"/>
                </a:solidFill>
                <a:latin typeface="Aptos"/>
              </a:rPr>
              <a:t>The first season of the IPL was held in 2008 and was won by the Rajasthan Royals.</a:t>
            </a:r>
          </a:p>
          <a:p>
            <a:pPr algn="l" marL="279400">
              <a:lnSpc>
                <a:spcPct val="108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1350" b="false">
                <a:solidFill>
                  <a:srgbClr val="1A202C"/>
                </a:solidFill>
                <a:latin typeface="Aptos"/>
              </a:rPr>
              <a:t>The league has since grown in popularity and has become one of the most watched and followed sports leagues in the world.</a:t>
            </a:r>
          </a:p>
        </p:txBody>
      </p:sp>
      <p:sp>
        <p:nvSpPr>
          <p:cNvPr name="AutoShape 14" id="14"/>
          <p:cNvSpPr/>
          <p:nvPr/>
        </p:nvSpPr>
        <p:spPr>
          <a:xfrm>
            <a:off x="6273800" y="3937000"/>
            <a:ext cx="5207000" cy="1930400"/>
          </a:xfrm>
          <a:prstGeom prst="roundRect">
            <a:avLst/>
          </a:prstGeom>
          <a:solidFill>
            <a:srgbClr val="FFFAF6"/>
          </a:solidFill>
          <a:ln w="12700">
            <a:solidFill>
              <a:srgbClr val="FFE3D2"/>
            </a:solidFill>
          </a:ln>
        </p:spPr>
      </p:sp>
      <p:sp>
        <p:nvSpPr>
          <p:cNvPr name="TextBox 15" id="15"/>
          <p:cNvSpPr txBox="true"/>
          <p:nvPr/>
        </p:nvSpPr>
        <p:spPr>
          <a:xfrm>
            <a:off x="6629400" y="4241800"/>
            <a:ext cx="2032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Applied takeaway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6629400" y="4597400"/>
            <a:ext cx="4191000" cy="939800"/>
          </a:xfrm>
          <a:prstGeom prst="rect">
            <a:avLst/>
          </a:prstGeom>
        </p:spPr>
        <p:txBody>
          <a:bodyPr anchor="t" rtlCol="false"/>
          <a:lstStyle/>
          <a:p>
            <a:pPr algn="l" marL="279400">
              <a:lnSpc>
                <a:spcPct val="108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1350" b="false">
                <a:solidFill>
                  <a:srgbClr val="1A202C"/>
                </a:solidFill>
                <a:latin typeface="Aptos"/>
              </a:rPr>
              <a:t>The league has also been instrumental in promoting cricket in India and has helped to increase the popularity of the sport in the country.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7772400" y="6426200"/>
            <a:ext cx="3759200" cy="152400"/>
          </a:xfrm>
          <a:prstGeom prst="rect">
            <a:avLst/>
          </a:prstGeom>
        </p:spPr>
        <p:txBody>
          <a:bodyPr anchor="t" rtlCol="false"/>
          <a:lstStyle/>
          <a:p>
            <a:pPr algn="r">
              <a:lnSpc>
                <a:spcPct val="108000"/>
              </a:lnSpc>
              <a:spcAft>
                <a:spcPct val="0"/>
              </a:spcAft>
            </a:pPr>
            <a:r>
              <a:rPr lang="en-US" sz="850" b="false">
                <a:solidFill>
                  <a:srgbClr val="64748B"/>
                </a:solidFill>
                <a:latin typeface="Aptos"/>
              </a:rPr>
              <a:t>Generated by Prompt2Craft  | 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300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0" y="76200"/>
            <a:ext cx="12192000" cy="304800"/>
          </a:xfrm>
          <a:prstGeom prst="rect">
            <a:avLst/>
          </a:prstGeom>
          <a:solidFill>
            <a:srgbClr val="FFF9F4"/>
          </a:solidFill>
          <a:ln>
            <a:noFill/>
          </a:ln>
        </p:spPr>
      </p:sp>
      <p:sp>
        <p:nvSpPr>
          <p:cNvPr name="TextBox 4" id="4"/>
          <p:cNvSpPr txBox="true"/>
          <p:nvPr/>
        </p:nvSpPr>
        <p:spPr>
          <a:xfrm>
            <a:off x="711200" y="533400"/>
            <a:ext cx="1524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Image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11200" y="762000"/>
            <a:ext cx="9652000" cy="533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700" b="true">
                <a:solidFill>
                  <a:srgbClr val="1A202C"/>
                </a:solidFill>
                <a:latin typeface="Aptos Display"/>
              </a:rPr>
              <a:t>IPL Teams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11200" y="1346200"/>
            <a:ext cx="9906000" cy="228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The 10 teams that compete in the league</a:t>
            </a:r>
          </a:p>
        </p:txBody>
      </p:sp>
      <p:sp>
        <p:nvSpPr>
          <p:cNvPr name="AutoShape 7" id="7"/>
          <p:cNvSpPr/>
          <p:nvPr/>
        </p:nvSpPr>
        <p:spPr>
          <a:xfrm>
            <a:off x="711200" y="1854200"/>
            <a:ext cx="5308600" cy="4013200"/>
          </a:xfrm>
          <a:prstGeom prst="roundRect">
            <a:avLst/>
          </a:prstGeom>
          <a:solidFill>
            <a:srgbClr val="FFFAF6"/>
          </a:solidFill>
          <a:ln w="12700">
            <a:solidFill>
              <a:srgbClr val="FFE3D2"/>
            </a:solidFill>
          </a:ln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854200"/>
            <a:ext cx="5308600" cy="4013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>
            <a:off x="6273800" y="1854200"/>
            <a:ext cx="5207000" cy="401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TextBox 10" id="10"/>
          <p:cNvSpPr txBox="true"/>
          <p:nvPr/>
        </p:nvSpPr>
        <p:spPr>
          <a:xfrm>
            <a:off x="6654800" y="2159000"/>
            <a:ext cx="1778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Supporting narrative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654800" y="2565400"/>
            <a:ext cx="4318000" cy="2667000"/>
          </a:xfrm>
          <a:prstGeom prst="rect">
            <a:avLst/>
          </a:prstGeom>
        </p:spPr>
        <p:txBody>
          <a:bodyPr anchor="t" rtlCol="false"/>
          <a:lstStyle/>
          <a:p>
            <a:pPr algn="l" marL="279400">
              <a:lnSpc>
                <a:spcPct val="108000"/>
              </a:lnSpc>
              <a:spcAft>
                <a:spcPct val="14000"/>
              </a:spcAft>
              <a:buFont typeface="Arial"/>
              <a:buChar char="•"/>
            </a:pPr>
            <a:r>
              <a:rPr lang="en-US" sz="1450" b="false">
                <a:solidFill>
                  <a:srgbClr val="1A202C"/>
                </a:solidFill>
                <a:latin typeface="Aptos"/>
              </a:rPr>
              <a:t>The IPL is contested by 10 teams, each representing a different city or region in India.</a:t>
            </a:r>
          </a:p>
          <a:p>
            <a:pPr algn="l" marL="279400">
              <a:lnSpc>
                <a:spcPct val="108000"/>
              </a:lnSpc>
              <a:spcAft>
                <a:spcPct val="14000"/>
              </a:spcAft>
              <a:buFont typeface="Arial"/>
              <a:buChar char="•"/>
            </a:pPr>
            <a:r>
              <a:rPr lang="en-US" sz="1450" b="false">
                <a:solidFill>
                  <a:srgbClr val="1A202C"/>
                </a:solidFill>
                <a:latin typeface="Aptos"/>
              </a:rPr>
              <a:t>The teams are: Mumbai Indians, Chennai Super Kings, Kolkata Knight Riders, Royal Challengers Bangalore, Delhi Capitals, Sunrisers Hyderabad, Rajasthan Royals, Punjab Kings, Lucknow Super Giants, and Gujarat Titans.</a:t>
            </a:r>
          </a:p>
          <a:p>
            <a:pPr algn="l" marL="279400">
              <a:lnSpc>
                <a:spcPct val="108000"/>
              </a:lnSpc>
              <a:spcAft>
                <a:spcPct val="14000"/>
              </a:spcAft>
              <a:buFont typeface="Arial"/>
              <a:buChar char="•"/>
            </a:pPr>
            <a:r>
              <a:rPr lang="en-US" sz="1450" b="false">
                <a:solidFill>
                  <a:srgbClr val="1A202C"/>
                </a:solidFill>
                <a:latin typeface="Aptos"/>
              </a:rPr>
              <a:t>Each team has a unique logo and brand identity, and they compete against each other in a double round-robin format.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7772400" y="6426200"/>
            <a:ext cx="3759200" cy="152400"/>
          </a:xfrm>
          <a:prstGeom prst="rect">
            <a:avLst/>
          </a:prstGeom>
        </p:spPr>
        <p:txBody>
          <a:bodyPr anchor="t" rtlCol="false"/>
          <a:lstStyle/>
          <a:p>
            <a:pPr algn="r">
              <a:lnSpc>
                <a:spcPct val="108000"/>
              </a:lnSpc>
              <a:spcAft>
                <a:spcPct val="0"/>
              </a:spcAft>
            </a:pPr>
            <a:r>
              <a:rPr lang="en-US" sz="850" b="false">
                <a:solidFill>
                  <a:srgbClr val="64748B"/>
                </a:solidFill>
                <a:latin typeface="Aptos"/>
              </a:rPr>
              <a:t>Generated by Prompt2Craft  | 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300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0" y="76200"/>
            <a:ext cx="12192000" cy="304800"/>
          </a:xfrm>
          <a:prstGeom prst="rect">
            <a:avLst/>
          </a:prstGeom>
          <a:solidFill>
            <a:srgbClr val="FFF9F4"/>
          </a:solidFill>
          <a:ln>
            <a:noFill/>
          </a:ln>
        </p:spPr>
      </p:sp>
      <p:sp>
        <p:nvSpPr>
          <p:cNvPr name="TextBox 4" id="4"/>
          <p:cNvSpPr txBox="true"/>
          <p:nvPr/>
        </p:nvSpPr>
        <p:spPr>
          <a:xfrm>
            <a:off x="711200" y="533400"/>
            <a:ext cx="1524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Stats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11200" y="762000"/>
            <a:ext cx="9652000" cy="533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700" b="true">
                <a:solidFill>
                  <a:srgbClr val="1A202C"/>
                </a:solidFill>
                <a:latin typeface="Aptos Display"/>
              </a:rPr>
              <a:t>IPL Records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11200" y="1346200"/>
            <a:ext cx="9906000" cy="228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Some of the most notable records in the league</a:t>
            </a:r>
          </a:p>
        </p:txBody>
      </p:sp>
      <p:sp>
        <p:nvSpPr>
          <p:cNvPr name="AutoShape 7" id="7"/>
          <p:cNvSpPr/>
          <p:nvPr/>
        </p:nvSpPr>
        <p:spPr>
          <a:xfrm>
            <a:off x="711200" y="2006600"/>
            <a:ext cx="4699000" cy="1549400"/>
          </a:xfrm>
          <a:prstGeom prst="roundRect">
            <a:avLst/>
          </a:prstGeom>
          <a:solidFill>
            <a:srgbClr val="FFF3EB"/>
          </a:solidFill>
          <a:ln w="12700">
            <a:solidFill>
              <a:srgbClr val="FFE3D2"/>
            </a:solidFill>
          </a:ln>
        </p:spPr>
      </p:sp>
      <p:sp>
        <p:nvSpPr>
          <p:cNvPr name="TextBox 8" id="8"/>
          <p:cNvSpPr txBox="true"/>
          <p:nvPr/>
        </p:nvSpPr>
        <p:spPr>
          <a:xfrm>
            <a:off x="1066800" y="2336800"/>
            <a:ext cx="2032000" cy="482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600" b="true">
                <a:solidFill>
                  <a:srgbClr val="1A202C"/>
                </a:solidFill>
                <a:latin typeface="Aptos Display"/>
              </a:rPr>
              <a:t>Most runs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1066800" y="2895600"/>
            <a:ext cx="3810000" cy="330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Virat Kohli (5,034 runs)</a:t>
            </a:r>
          </a:p>
        </p:txBody>
      </p:sp>
      <p:sp>
        <p:nvSpPr>
          <p:cNvPr name="AutoShape 10" id="10"/>
          <p:cNvSpPr/>
          <p:nvPr/>
        </p:nvSpPr>
        <p:spPr>
          <a:xfrm>
            <a:off x="6121400" y="2006600"/>
            <a:ext cx="46990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TextBox 11" id="11"/>
          <p:cNvSpPr txBox="true"/>
          <p:nvPr/>
        </p:nvSpPr>
        <p:spPr>
          <a:xfrm>
            <a:off x="6477000" y="2336800"/>
            <a:ext cx="2032000" cy="482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000" b="true">
                <a:solidFill>
                  <a:srgbClr val="1A202C"/>
                </a:solidFill>
                <a:latin typeface="Aptos Display"/>
              </a:rPr>
              <a:t>Most wickets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6477000" y="2895600"/>
            <a:ext cx="3810000" cy="330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Lasith Malinga (170 wickets)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11200" y="3937000"/>
            <a:ext cx="46990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TextBox 14" id="14"/>
          <p:cNvSpPr txBox="true"/>
          <p:nvPr/>
        </p:nvSpPr>
        <p:spPr>
          <a:xfrm>
            <a:off x="1066800" y="4267200"/>
            <a:ext cx="2032000" cy="482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000" b="true">
                <a:solidFill>
                  <a:srgbClr val="1A202C"/>
                </a:solidFill>
                <a:latin typeface="Aptos Display"/>
              </a:rPr>
              <a:t>Highest score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1066800" y="4826000"/>
            <a:ext cx="3810000" cy="330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264 (by Mumbai Indians against Kings XI Punjab)</a:t>
            </a:r>
          </a:p>
        </p:txBody>
      </p:sp>
      <p:sp>
        <p:nvSpPr>
          <p:cNvPr name="AutoShape 16" id="16"/>
          <p:cNvSpPr/>
          <p:nvPr/>
        </p:nvSpPr>
        <p:spPr>
          <a:xfrm>
            <a:off x="6121400" y="3937000"/>
            <a:ext cx="46990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TextBox 17" id="17"/>
          <p:cNvSpPr txBox="true"/>
          <p:nvPr/>
        </p:nvSpPr>
        <p:spPr>
          <a:xfrm>
            <a:off x="6477000" y="4267200"/>
            <a:ext cx="2032000" cy="482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000" b="true">
                <a:solidFill>
                  <a:srgbClr val="1A202C"/>
                </a:solidFill>
                <a:latin typeface="Aptos Display"/>
              </a:rPr>
              <a:t>Best economy rate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6477000" y="4826000"/>
            <a:ext cx="3810000" cy="330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Muttiah Muralitharan (6.95)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7772400" y="6426200"/>
            <a:ext cx="3759200" cy="152400"/>
          </a:xfrm>
          <a:prstGeom prst="rect">
            <a:avLst/>
          </a:prstGeom>
        </p:spPr>
        <p:txBody>
          <a:bodyPr anchor="t" rtlCol="false"/>
          <a:lstStyle/>
          <a:p>
            <a:pPr algn="r">
              <a:lnSpc>
                <a:spcPct val="108000"/>
              </a:lnSpc>
              <a:spcAft>
                <a:spcPct val="0"/>
              </a:spcAft>
            </a:pPr>
            <a:r>
              <a:rPr lang="en-US" sz="850" b="false">
                <a:solidFill>
                  <a:srgbClr val="64748B"/>
                </a:solidFill>
                <a:latin typeface="Aptos"/>
              </a:rPr>
              <a:t>Generated by Prompt2Craft  | 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300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0" y="76200"/>
            <a:ext cx="12192000" cy="304800"/>
          </a:xfrm>
          <a:prstGeom prst="rect">
            <a:avLst/>
          </a:prstGeom>
          <a:solidFill>
            <a:srgbClr val="FFF9F4"/>
          </a:solidFill>
          <a:ln>
            <a:noFill/>
          </a:ln>
        </p:spPr>
      </p:sp>
      <p:sp>
        <p:nvSpPr>
          <p:cNvPr name="TextBox 4" id="4"/>
          <p:cNvSpPr txBox="true"/>
          <p:nvPr/>
        </p:nvSpPr>
        <p:spPr>
          <a:xfrm>
            <a:off x="711200" y="533400"/>
            <a:ext cx="1524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Timeline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11200" y="762000"/>
            <a:ext cx="9652000" cy="533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700" b="true">
                <a:solidFill>
                  <a:srgbClr val="1A202C"/>
                </a:solidFill>
                <a:latin typeface="Aptos Display"/>
              </a:rPr>
              <a:t>IPL Timeline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11200" y="1346200"/>
            <a:ext cx="9906000" cy="228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A brief history of the league</a:t>
            </a:r>
          </a:p>
        </p:txBody>
      </p:sp>
      <p:sp>
        <p:nvSpPr>
          <p:cNvPr name="AutoShape 7" id="7"/>
          <p:cNvSpPr/>
          <p:nvPr/>
        </p:nvSpPr>
        <p:spPr>
          <a:xfrm>
            <a:off x="1054100" y="3479800"/>
            <a:ext cx="10083800" cy="50800"/>
          </a:xfrm>
          <a:prstGeom prst="rect">
            <a:avLst/>
          </a:prstGeom>
          <a:solidFill>
            <a:srgbClr val="FFD7C0"/>
          </a:solidFill>
          <a:ln>
            <a:noFill/>
          </a:ln>
        </p:spPr>
      </p:sp>
      <p:sp>
        <p:nvSpPr>
          <p:cNvPr name="AutoShape 8" id="8"/>
          <p:cNvSpPr/>
          <p:nvPr/>
        </p:nvSpPr>
        <p:spPr>
          <a:xfrm>
            <a:off x="1104900" y="3302000"/>
            <a:ext cx="355600" cy="355600"/>
          </a:xfrm>
          <a:prstGeom prst="ellipse">
            <a:avLst/>
          </a:prstGeom>
          <a:solidFill>
            <a:srgbClr val="FF7300"/>
          </a:solidFill>
          <a:ln>
            <a:noFill/>
          </a:ln>
        </p:spPr>
      </p:sp>
      <p:sp>
        <p:nvSpPr>
          <p:cNvPr name="AutoShape 9" id="9"/>
          <p:cNvSpPr/>
          <p:nvPr/>
        </p:nvSpPr>
        <p:spPr>
          <a:xfrm>
            <a:off x="774700" y="3835400"/>
            <a:ext cx="2489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TextBox 10" id="10"/>
          <p:cNvSpPr txBox="true"/>
          <p:nvPr/>
        </p:nvSpPr>
        <p:spPr>
          <a:xfrm>
            <a:off x="1054100" y="4064000"/>
            <a:ext cx="1930400" cy="203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STEP 1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1054100" y="43942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600" b="true">
                <a:solidFill>
                  <a:srgbClr val="1A202C"/>
                </a:solidFill>
                <a:latin typeface="Aptos Display"/>
              </a:rPr>
              <a:t>2008: The IPL is founded by the BCCI.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3822700" y="3302000"/>
            <a:ext cx="355600" cy="355600"/>
          </a:xfrm>
          <a:prstGeom prst="ellipse">
            <a:avLst/>
          </a:prstGeom>
          <a:solidFill>
            <a:srgbClr val="FF7300"/>
          </a:solidFill>
          <a:ln>
            <a:noFill/>
          </a:ln>
        </p:spPr>
      </p:sp>
      <p:sp>
        <p:nvSpPr>
          <p:cNvPr name="AutoShape 13" id="13"/>
          <p:cNvSpPr/>
          <p:nvPr/>
        </p:nvSpPr>
        <p:spPr>
          <a:xfrm>
            <a:off x="3492500" y="3835400"/>
            <a:ext cx="2489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TextBox 14" id="14"/>
          <p:cNvSpPr txBox="true"/>
          <p:nvPr/>
        </p:nvSpPr>
        <p:spPr>
          <a:xfrm>
            <a:off x="3771900" y="4064000"/>
            <a:ext cx="1930400" cy="203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STEP 2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3771900" y="43942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400" b="true">
                <a:solidFill>
                  <a:srgbClr val="1A202C"/>
                </a:solidFill>
                <a:latin typeface="Aptos Display"/>
              </a:rPr>
              <a:t>2009: The first season of the IPL is held and is won by the Rajasthan Royals.</a:t>
            </a:r>
          </a:p>
        </p:txBody>
      </p:sp>
      <p:sp>
        <p:nvSpPr>
          <p:cNvPr name="AutoShape 16" id="16"/>
          <p:cNvSpPr/>
          <p:nvPr/>
        </p:nvSpPr>
        <p:spPr>
          <a:xfrm>
            <a:off x="6540500" y="3302000"/>
            <a:ext cx="355600" cy="355600"/>
          </a:xfrm>
          <a:prstGeom prst="ellipse">
            <a:avLst/>
          </a:prstGeom>
          <a:solidFill>
            <a:srgbClr val="FF7300"/>
          </a:solidFill>
          <a:ln>
            <a:noFill/>
          </a:ln>
        </p:spPr>
      </p:sp>
      <p:sp>
        <p:nvSpPr>
          <p:cNvPr name="AutoShape 17" id="17"/>
          <p:cNvSpPr/>
          <p:nvPr/>
        </p:nvSpPr>
        <p:spPr>
          <a:xfrm>
            <a:off x="6210300" y="3835400"/>
            <a:ext cx="2489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TextBox 18" id="18"/>
          <p:cNvSpPr txBox="true"/>
          <p:nvPr/>
        </p:nvSpPr>
        <p:spPr>
          <a:xfrm>
            <a:off x="6489700" y="4064000"/>
            <a:ext cx="1930400" cy="203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STEP 3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6489700" y="43942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400" b="true">
                <a:solidFill>
                  <a:srgbClr val="1A202C"/>
                </a:solidFill>
                <a:latin typeface="Aptos Display"/>
              </a:rPr>
              <a:t>2010: The league is expanded to 10 teams and the format is changed to a double round-robin format.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9258300" y="3302000"/>
            <a:ext cx="355600" cy="355600"/>
          </a:xfrm>
          <a:prstGeom prst="ellipse">
            <a:avLst/>
          </a:prstGeom>
          <a:solidFill>
            <a:srgbClr val="FF7300"/>
          </a:solidFill>
          <a:ln>
            <a:noFill/>
          </a:ln>
        </p:spPr>
      </p:sp>
      <p:sp>
        <p:nvSpPr>
          <p:cNvPr name="AutoShape 21" id="21"/>
          <p:cNvSpPr/>
          <p:nvPr/>
        </p:nvSpPr>
        <p:spPr>
          <a:xfrm>
            <a:off x="8928100" y="3835400"/>
            <a:ext cx="2489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TextBox 22" id="22"/>
          <p:cNvSpPr txBox="true"/>
          <p:nvPr/>
        </p:nvSpPr>
        <p:spPr>
          <a:xfrm>
            <a:off x="9207500" y="4064000"/>
            <a:ext cx="1930400" cy="203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STEP 4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9207500" y="43942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400" b="true">
                <a:solidFill>
                  <a:srgbClr val="1A202C"/>
                </a:solidFill>
                <a:latin typeface="Aptos Display"/>
              </a:rPr>
              <a:t>2011: The IPL is suspended due to a spot-fixing scandal.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7772400" y="6426200"/>
            <a:ext cx="3759200" cy="152400"/>
          </a:xfrm>
          <a:prstGeom prst="rect">
            <a:avLst/>
          </a:prstGeom>
        </p:spPr>
        <p:txBody>
          <a:bodyPr anchor="t" rtlCol="false"/>
          <a:lstStyle/>
          <a:p>
            <a:pPr algn="r">
              <a:lnSpc>
                <a:spcPct val="108000"/>
              </a:lnSpc>
              <a:spcAft>
                <a:spcPct val="0"/>
              </a:spcAft>
            </a:pPr>
            <a:r>
              <a:rPr lang="en-US" sz="850" b="false">
                <a:solidFill>
                  <a:srgbClr val="64748B"/>
                </a:solidFill>
                <a:latin typeface="Aptos"/>
              </a:rPr>
              <a:t>Generated by Prompt2Craft  |  Slide 5 of 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300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0" y="76200"/>
            <a:ext cx="12192000" cy="304800"/>
          </a:xfrm>
          <a:prstGeom prst="rect">
            <a:avLst/>
          </a:prstGeom>
          <a:solidFill>
            <a:srgbClr val="FFF9F4"/>
          </a:solidFill>
          <a:ln>
            <a:noFill/>
          </a:ln>
        </p:spPr>
      </p:sp>
      <p:sp>
        <p:nvSpPr>
          <p:cNvPr name="TextBox 4" id="4"/>
          <p:cNvSpPr txBox="true"/>
          <p:nvPr/>
        </p:nvSpPr>
        <p:spPr>
          <a:xfrm>
            <a:off x="711200" y="533400"/>
            <a:ext cx="1524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Two Column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11200" y="762000"/>
            <a:ext cx="9652000" cy="533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700" b="true">
                <a:solidFill>
                  <a:srgbClr val="1A202C"/>
                </a:solidFill>
                <a:latin typeface="Aptos Display"/>
              </a:rPr>
              <a:t>IPL Impact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11200" y="1346200"/>
            <a:ext cx="9906000" cy="228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The impact of the IPL on Indian cricket</a:t>
            </a:r>
          </a:p>
        </p:txBody>
      </p:sp>
      <p:sp>
        <p:nvSpPr>
          <p:cNvPr name="AutoShape 7" id="7"/>
          <p:cNvSpPr/>
          <p:nvPr/>
        </p:nvSpPr>
        <p:spPr>
          <a:xfrm>
            <a:off x="711200" y="1905000"/>
            <a:ext cx="5130800" cy="396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6350000" y="1905000"/>
            <a:ext cx="5130800" cy="396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TextBox 9" id="9"/>
          <p:cNvSpPr txBox="true"/>
          <p:nvPr/>
        </p:nvSpPr>
        <p:spPr>
          <a:xfrm>
            <a:off x="1117600" y="2235200"/>
            <a:ext cx="1524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Column One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6756400" y="2235200"/>
            <a:ext cx="1524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Column Two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1117600" y="2641600"/>
            <a:ext cx="4318000" cy="2717800"/>
          </a:xfrm>
          <a:prstGeom prst="rect">
            <a:avLst/>
          </a:prstGeom>
        </p:spPr>
        <p:txBody>
          <a:bodyPr anchor="t" rtlCol="false"/>
          <a:lstStyle/>
          <a:p>
            <a:pPr algn="l" marL="279400">
              <a:lnSpc>
                <a:spcPct val="108000"/>
              </a:lnSpc>
              <a:spcAft>
                <a:spcPct val="13000"/>
              </a:spcAft>
              <a:buFont typeface="Arial"/>
              <a:buChar char="•"/>
            </a:pPr>
            <a:r>
              <a:rPr lang="en-US" sz="1400" b="false">
                <a:solidFill>
                  <a:srgbClr val="1A202C"/>
                </a:solidFill>
                <a:latin typeface="Aptos"/>
              </a:rPr>
              <a:t>The IPL has helped to increase the popularity of cricket in India.</a:t>
            </a:r>
          </a:p>
          <a:p>
            <a:pPr algn="l" marL="279400">
              <a:lnSpc>
                <a:spcPct val="108000"/>
              </a:lnSpc>
              <a:spcAft>
                <a:spcPct val="13000"/>
              </a:spcAft>
              <a:buFont typeface="Arial"/>
              <a:buChar char="•"/>
            </a:pPr>
            <a:r>
              <a:rPr lang="en-US" sz="1400" b="false">
                <a:solidFill>
                  <a:srgbClr val="1A202C"/>
                </a:solidFill>
                <a:latin typeface="Aptos"/>
              </a:rPr>
              <a:t>The league has also helped to promote Indian cricket globally.</a:t>
            </a:r>
          </a:p>
          <a:p>
            <a:pPr algn="l" marL="279400">
              <a:lnSpc>
                <a:spcPct val="108000"/>
              </a:lnSpc>
              <a:spcAft>
                <a:spcPct val="13000"/>
              </a:spcAft>
              <a:buFont typeface="Arial"/>
              <a:buChar char="•"/>
            </a:pPr>
            <a:r>
              <a:rPr lang="en-US" sz="1400" b="false">
                <a:solidFill>
                  <a:srgbClr val="1A202C"/>
                </a:solidFill>
                <a:latin typeface="Aptos"/>
              </a:rPr>
              <a:t>The IPL has provided a platform for young and talented cricketers to showcase their skills.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6756400" y="2641600"/>
            <a:ext cx="4318000" cy="2717800"/>
          </a:xfrm>
          <a:prstGeom prst="rect">
            <a:avLst/>
          </a:prstGeom>
        </p:spPr>
        <p:txBody>
          <a:bodyPr anchor="t" rtlCol="false"/>
          <a:lstStyle/>
          <a:p>
            <a:pPr algn="l" marL="279400">
              <a:lnSpc>
                <a:spcPct val="108000"/>
              </a:lnSpc>
              <a:spcAft>
                <a:spcPct val="13000"/>
              </a:spcAft>
              <a:buFont typeface="Arial"/>
              <a:buChar char="•"/>
            </a:pPr>
            <a:r>
              <a:rPr lang="en-US" sz="1550" b="false">
                <a:solidFill>
                  <a:srgbClr val="1A202C"/>
                </a:solidFill>
                <a:latin typeface="Aptos"/>
              </a:rPr>
              <a:t>The IPL has also helped to increase the revenue of the BCCI.</a:t>
            </a:r>
          </a:p>
          <a:p>
            <a:pPr algn="l" marL="279400">
              <a:lnSpc>
                <a:spcPct val="108000"/>
              </a:lnSpc>
              <a:spcAft>
                <a:spcPct val="13000"/>
              </a:spcAft>
              <a:buFont typeface="Arial"/>
              <a:buChar char="•"/>
            </a:pPr>
            <a:r>
              <a:rPr lang="en-US" sz="1550" b="false">
                <a:solidFill>
                  <a:srgbClr val="1A202C"/>
                </a:solidFill>
                <a:latin typeface="Aptos"/>
              </a:rPr>
              <a:t>The league has also helped to reduce the financial burden on the BCCI.</a:t>
            </a:r>
          </a:p>
          <a:p>
            <a:pPr algn="l" marL="279400">
              <a:lnSpc>
                <a:spcPct val="108000"/>
              </a:lnSpc>
              <a:spcAft>
                <a:spcPct val="13000"/>
              </a:spcAft>
              <a:buFont typeface="Arial"/>
              <a:buChar char="•"/>
            </a:pPr>
            <a:r>
              <a:rPr lang="en-US" sz="1550" b="false">
                <a:solidFill>
                  <a:srgbClr val="1A202C"/>
                </a:solidFill>
                <a:latin typeface="Aptos"/>
              </a:rPr>
              <a:t>The IPL has also helped to promote the growth of cricket in India.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7772400" y="6426200"/>
            <a:ext cx="3759200" cy="152400"/>
          </a:xfrm>
          <a:prstGeom prst="rect">
            <a:avLst/>
          </a:prstGeom>
        </p:spPr>
        <p:txBody>
          <a:bodyPr anchor="t" rtlCol="false"/>
          <a:lstStyle/>
          <a:p>
            <a:pPr algn="r">
              <a:lnSpc>
                <a:spcPct val="108000"/>
              </a:lnSpc>
              <a:spcAft>
                <a:spcPct val="0"/>
              </a:spcAft>
            </a:pPr>
            <a:r>
              <a:rPr lang="en-US" sz="850" b="false">
                <a:solidFill>
                  <a:srgbClr val="64748B"/>
                </a:solidFill>
                <a:latin typeface="Aptos"/>
              </a:rPr>
              <a:t>Generated by Prompt2Craft  | 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300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0" y="76200"/>
            <a:ext cx="12192000" cy="304800"/>
          </a:xfrm>
          <a:prstGeom prst="rect">
            <a:avLst/>
          </a:prstGeom>
          <a:solidFill>
            <a:srgbClr val="FFF9F4"/>
          </a:solidFill>
          <a:ln>
            <a:noFill/>
          </a:ln>
        </p:spPr>
      </p:sp>
      <p:sp>
        <p:nvSpPr>
          <p:cNvPr name="TextBox 4" id="4"/>
          <p:cNvSpPr txBox="true"/>
          <p:nvPr/>
        </p:nvSpPr>
        <p:spPr>
          <a:xfrm>
            <a:off x="711200" y="533400"/>
            <a:ext cx="1524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Image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11200" y="762000"/>
            <a:ext cx="9652000" cy="533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700" b="true">
                <a:solidFill>
                  <a:srgbClr val="1A202C"/>
                </a:solidFill>
                <a:latin typeface="Aptos Display"/>
              </a:rPr>
              <a:t>IPL Venues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11200" y="1346200"/>
            <a:ext cx="9906000" cy="228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Some of the most notable stadiums in the league</a:t>
            </a:r>
          </a:p>
        </p:txBody>
      </p:sp>
      <p:sp>
        <p:nvSpPr>
          <p:cNvPr name="AutoShape 7" id="7"/>
          <p:cNvSpPr/>
          <p:nvPr/>
        </p:nvSpPr>
        <p:spPr>
          <a:xfrm>
            <a:off x="711200" y="1854200"/>
            <a:ext cx="5308600" cy="4013200"/>
          </a:xfrm>
          <a:prstGeom prst="roundRect">
            <a:avLst/>
          </a:prstGeom>
          <a:solidFill>
            <a:srgbClr val="FFFAF6"/>
          </a:solidFill>
          <a:ln w="12700">
            <a:solidFill>
              <a:srgbClr val="FFE3D2"/>
            </a:solidFill>
          </a:ln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854200"/>
            <a:ext cx="5308600" cy="4013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>
            <a:off x="6273800" y="1854200"/>
            <a:ext cx="5207000" cy="401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TextBox 10" id="10"/>
          <p:cNvSpPr txBox="true"/>
          <p:nvPr/>
        </p:nvSpPr>
        <p:spPr>
          <a:xfrm>
            <a:off x="6654800" y="2159000"/>
            <a:ext cx="1778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Supporting narrative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654800" y="2565400"/>
            <a:ext cx="4318000" cy="2667000"/>
          </a:xfrm>
          <a:prstGeom prst="rect">
            <a:avLst/>
          </a:prstGeom>
        </p:spPr>
        <p:txBody>
          <a:bodyPr anchor="t" rtlCol="false"/>
          <a:lstStyle/>
          <a:p>
            <a:pPr algn="l" marL="279400">
              <a:lnSpc>
                <a:spcPct val="108000"/>
              </a:lnSpc>
              <a:spcAft>
                <a:spcPct val="14000"/>
              </a:spcAft>
              <a:buFont typeface="Arial"/>
              <a:buChar char="•"/>
            </a:pPr>
            <a:r>
              <a:rPr lang="en-US" sz="1450" b="false">
                <a:solidFill>
                  <a:srgbClr val="1A202C"/>
                </a:solidFill>
                <a:latin typeface="Aptos"/>
              </a:rPr>
              <a:t>The IPL is played in various stadiums across India.</a:t>
            </a:r>
          </a:p>
          <a:p>
            <a:pPr algn="l" marL="279400">
              <a:lnSpc>
                <a:spcPct val="108000"/>
              </a:lnSpc>
              <a:spcAft>
                <a:spcPct val="14000"/>
              </a:spcAft>
              <a:buFont typeface="Arial"/>
              <a:buChar char="•"/>
            </a:pPr>
            <a:r>
              <a:rPr lang="en-US" sz="1450" b="false">
                <a:solidFill>
                  <a:srgbClr val="1A202C"/>
                </a:solidFill>
                <a:latin typeface="Aptos"/>
              </a:rPr>
              <a:t>Some of the most notable stadiums in the league include the Wankhede Stadium in Mumbai, the MA Chidambaram Stadium in Chennai, and the Feroz Shah Kotla Ground in Delhi.</a:t>
            </a:r>
          </a:p>
          <a:p>
            <a:pPr algn="l" marL="279400">
              <a:lnSpc>
                <a:spcPct val="108000"/>
              </a:lnSpc>
              <a:spcAft>
                <a:spcPct val="14000"/>
              </a:spcAft>
              <a:buFont typeface="Arial"/>
              <a:buChar char="•"/>
            </a:pPr>
            <a:r>
              <a:rPr lang="en-US" sz="1450" b="false">
                <a:solidFill>
                  <a:srgbClr val="1A202C"/>
                </a:solidFill>
                <a:latin typeface="Aptos"/>
              </a:rPr>
              <a:t>Each stadium has its own unique character and atmosphere, and they provide a great experience for the fans.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7772400" y="6426200"/>
            <a:ext cx="3759200" cy="152400"/>
          </a:xfrm>
          <a:prstGeom prst="rect">
            <a:avLst/>
          </a:prstGeom>
        </p:spPr>
        <p:txBody>
          <a:bodyPr anchor="t" rtlCol="false"/>
          <a:lstStyle/>
          <a:p>
            <a:pPr algn="r">
              <a:lnSpc>
                <a:spcPct val="108000"/>
              </a:lnSpc>
              <a:spcAft>
                <a:spcPct val="0"/>
              </a:spcAft>
            </a:pPr>
            <a:r>
              <a:rPr lang="en-US" sz="850" b="false">
                <a:solidFill>
                  <a:srgbClr val="64748B"/>
                </a:solidFill>
                <a:latin typeface="Aptos"/>
              </a:rPr>
              <a:t>Generated by Prompt2Craft  |  Slide 7 of 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300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0" y="76200"/>
            <a:ext cx="12192000" cy="304800"/>
          </a:xfrm>
          <a:prstGeom prst="rect">
            <a:avLst/>
          </a:prstGeom>
          <a:solidFill>
            <a:srgbClr val="FFF9F4"/>
          </a:solidFill>
          <a:ln>
            <a:noFill/>
          </a:ln>
        </p:spPr>
      </p:sp>
      <p:sp>
        <p:nvSpPr>
          <p:cNvPr name="TextBox 4" id="4"/>
          <p:cNvSpPr txBox="true"/>
          <p:nvPr/>
        </p:nvSpPr>
        <p:spPr>
          <a:xfrm>
            <a:off x="711200" y="533400"/>
            <a:ext cx="1524000" cy="177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000" b="true">
                <a:solidFill>
                  <a:srgbClr val="FF7300"/>
                </a:solidFill>
                <a:latin typeface="Aptos"/>
              </a:rPr>
              <a:t>Stats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11200" y="762000"/>
            <a:ext cx="9652000" cy="533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700" b="true">
                <a:solidFill>
                  <a:srgbClr val="1A202C"/>
                </a:solidFill>
                <a:latin typeface="Aptos Display"/>
              </a:rPr>
              <a:t>IPL Attendance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11200" y="1346200"/>
            <a:ext cx="9906000" cy="228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The average attendance at IPL matches</a:t>
            </a:r>
          </a:p>
        </p:txBody>
      </p:sp>
      <p:sp>
        <p:nvSpPr>
          <p:cNvPr name="AutoShape 7" id="7"/>
          <p:cNvSpPr/>
          <p:nvPr/>
        </p:nvSpPr>
        <p:spPr>
          <a:xfrm>
            <a:off x="711200" y="2006600"/>
            <a:ext cx="4699000" cy="1549400"/>
          </a:xfrm>
          <a:prstGeom prst="roundRect">
            <a:avLst/>
          </a:prstGeom>
          <a:solidFill>
            <a:srgbClr val="FFF3EB"/>
          </a:solidFill>
          <a:ln w="12700">
            <a:solidFill>
              <a:srgbClr val="FFE3D2"/>
            </a:solidFill>
          </a:ln>
        </p:spPr>
      </p:sp>
      <p:sp>
        <p:nvSpPr>
          <p:cNvPr name="TextBox 8" id="8"/>
          <p:cNvSpPr txBox="true"/>
          <p:nvPr/>
        </p:nvSpPr>
        <p:spPr>
          <a:xfrm>
            <a:off x="1066800" y="2336800"/>
            <a:ext cx="2032000" cy="482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000" b="true">
                <a:solidFill>
                  <a:srgbClr val="1A202C"/>
                </a:solidFill>
                <a:latin typeface="Aptos Display"/>
              </a:rPr>
              <a:t>Average attendance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1066800" y="2895600"/>
            <a:ext cx="3810000" cy="330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30,000 fans per match.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6121400" y="2006600"/>
            <a:ext cx="46990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TextBox 11" id="11"/>
          <p:cNvSpPr txBox="true"/>
          <p:nvPr/>
        </p:nvSpPr>
        <p:spPr>
          <a:xfrm>
            <a:off x="6477000" y="2336800"/>
            <a:ext cx="2032000" cy="482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000" b="true">
                <a:solidFill>
                  <a:srgbClr val="1A202C"/>
                </a:solidFill>
                <a:latin typeface="Aptos Display"/>
              </a:rPr>
              <a:t>Highest attendance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6477000" y="2895600"/>
            <a:ext cx="3810000" cy="330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55,000 fans at the Wankhede Stadium in Mumbai.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11200" y="3937000"/>
            <a:ext cx="46990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name="TextBox 14" id="14"/>
          <p:cNvSpPr txBox="true"/>
          <p:nvPr/>
        </p:nvSpPr>
        <p:spPr>
          <a:xfrm>
            <a:off x="1066800" y="4267200"/>
            <a:ext cx="2032000" cy="482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2000" b="true">
                <a:solidFill>
                  <a:srgbClr val="1A202C"/>
                </a:solidFill>
                <a:latin typeface="Aptos Display"/>
              </a:rPr>
              <a:t>Lowest attendance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1066800" y="4826000"/>
            <a:ext cx="3810000" cy="330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8000"/>
              </a:lnSpc>
              <a:spcAft>
                <a:spcPct val="0"/>
              </a:spcAft>
            </a:pPr>
            <a:r>
              <a:rPr lang="en-US" sz="1300" b="false">
                <a:solidFill>
                  <a:srgbClr val="64748B"/>
                </a:solidFill>
                <a:latin typeface="Aptos"/>
              </a:rPr>
              <a:t>10,000 fans at the Feroz Shah Kotla Ground in Delhi.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7772400" y="6426200"/>
            <a:ext cx="3759200" cy="152400"/>
          </a:xfrm>
          <a:prstGeom prst="rect">
            <a:avLst/>
          </a:prstGeom>
        </p:spPr>
        <p:txBody>
          <a:bodyPr anchor="t" rtlCol="false"/>
          <a:lstStyle/>
          <a:p>
            <a:pPr algn="r">
              <a:lnSpc>
                <a:spcPct val="108000"/>
              </a:lnSpc>
              <a:spcAft>
                <a:spcPct val="0"/>
              </a:spcAft>
            </a:pPr>
            <a:r>
              <a:rPr lang="en-US" sz="850" b="false">
                <a:solidFill>
                  <a:srgbClr val="64748B"/>
                </a:solidFill>
                <a:latin typeface="Aptos"/>
              </a:rPr>
              <a:t>Generated by Prompt2Craft  |  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